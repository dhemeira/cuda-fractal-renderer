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2" r:id="rId5"/>
    <p:sldId id="263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1C6C"/>
    <a:srgbClr val="440E60"/>
    <a:srgbClr val="41387C"/>
    <a:srgbClr val="45B74D"/>
    <a:srgbClr val="4510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37204-E959-4744-B273-F7E6BE403903}" v="38" dt="2026-05-10T11:56:32.3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9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ics Péter" userId="e7276760-9926-4678-97db-de2d73da39d3" providerId="ADAL" clId="{B35C81F9-B57F-43FC-B3BF-EE13D07BBF7F}"/>
    <pc:docChg chg="undo redo custSel modSld modMainMaster">
      <pc:chgData name="Lakics Péter" userId="e7276760-9926-4678-97db-de2d73da39d3" providerId="ADAL" clId="{B35C81F9-B57F-43FC-B3BF-EE13D07BBF7F}" dt="2026-05-10T11:53:40.470" v="29" actId="1076"/>
      <pc:docMkLst>
        <pc:docMk/>
      </pc:docMkLst>
      <pc:sldChg chg="setBg">
        <pc:chgData name="Lakics Péter" userId="e7276760-9926-4678-97db-de2d73da39d3" providerId="ADAL" clId="{B35C81F9-B57F-43FC-B3BF-EE13D07BBF7F}" dt="2026-05-10T11:53:14.338" v="14"/>
        <pc:sldMkLst>
          <pc:docMk/>
          <pc:sldMk cId="846845373" sldId="256"/>
        </pc:sldMkLst>
      </pc:sldChg>
      <pc:sldChg chg="setBg">
        <pc:chgData name="Lakics Péter" userId="e7276760-9926-4678-97db-de2d73da39d3" providerId="ADAL" clId="{B35C81F9-B57F-43FC-B3BF-EE13D07BBF7F}" dt="2026-05-10T11:53:14.338" v="14"/>
        <pc:sldMkLst>
          <pc:docMk/>
          <pc:sldMk cId="944236885" sldId="258"/>
        </pc:sldMkLst>
      </pc:sldChg>
      <pc:sldChg chg="setBg">
        <pc:chgData name="Lakics Péter" userId="e7276760-9926-4678-97db-de2d73da39d3" providerId="ADAL" clId="{B35C81F9-B57F-43FC-B3BF-EE13D07BBF7F}" dt="2026-05-10T11:53:38.019" v="27"/>
        <pc:sldMkLst>
          <pc:docMk/>
          <pc:sldMk cId="3102539518" sldId="260"/>
        </pc:sldMkLst>
      </pc:sldChg>
      <pc:sldChg chg="setBg">
        <pc:chgData name="Lakics Péter" userId="e7276760-9926-4678-97db-de2d73da39d3" providerId="ADAL" clId="{B35C81F9-B57F-43FC-B3BF-EE13D07BBF7F}" dt="2026-05-10T11:53:14.338" v="14"/>
        <pc:sldMkLst>
          <pc:docMk/>
          <pc:sldMk cId="3965702868" sldId="262"/>
        </pc:sldMkLst>
      </pc:sldChg>
      <pc:sldChg chg="modSp mod setBg">
        <pc:chgData name="Lakics Péter" userId="e7276760-9926-4678-97db-de2d73da39d3" providerId="ADAL" clId="{B35C81F9-B57F-43FC-B3BF-EE13D07BBF7F}" dt="2026-05-10T11:53:40.470" v="29" actId="1076"/>
        <pc:sldMkLst>
          <pc:docMk/>
          <pc:sldMk cId="1385542516" sldId="263"/>
        </pc:sldMkLst>
        <pc:picChg chg="mod">
          <ac:chgData name="Lakics Péter" userId="e7276760-9926-4678-97db-de2d73da39d3" providerId="ADAL" clId="{B35C81F9-B57F-43FC-B3BF-EE13D07BBF7F}" dt="2026-05-10T11:53:40.470" v="29" actId="1076"/>
          <ac:picMkLst>
            <pc:docMk/>
            <pc:sldMk cId="1385542516" sldId="263"/>
            <ac:picMk id="14" creationId="{38F5379B-7CDB-B28C-BC7F-386C6FCF8DDE}"/>
          </ac:picMkLst>
        </pc:picChg>
      </pc:sldChg>
      <pc:sldMasterChg chg="setBg modSldLayout">
        <pc:chgData name="Lakics Péter" userId="e7276760-9926-4678-97db-de2d73da39d3" providerId="ADAL" clId="{B35C81F9-B57F-43FC-B3BF-EE13D07BBF7F}" dt="2026-05-10T11:53:14.338" v="14"/>
        <pc:sldMasterMkLst>
          <pc:docMk/>
          <pc:sldMasterMk cId="3015920182" sldId="2147483648"/>
        </pc:sldMasterMkLst>
        <pc:sldLayoutChg chg="setBg">
          <pc:chgData name="Lakics Péter" userId="e7276760-9926-4678-97db-de2d73da39d3" providerId="ADAL" clId="{B35C81F9-B57F-43FC-B3BF-EE13D07BBF7F}" dt="2026-05-10T11:53:14.338" v="14"/>
          <pc:sldLayoutMkLst>
            <pc:docMk/>
            <pc:sldMasterMk cId="3015920182" sldId="2147483648"/>
            <pc:sldLayoutMk cId="2654788090" sldId="2147483649"/>
          </pc:sldLayoutMkLst>
        </pc:sldLayoutChg>
        <pc:sldLayoutChg chg="setBg">
          <pc:chgData name="Lakics Péter" userId="e7276760-9926-4678-97db-de2d73da39d3" providerId="ADAL" clId="{B35C81F9-B57F-43FC-B3BF-EE13D07BBF7F}" dt="2026-05-10T11:53:14.338" v="14"/>
          <pc:sldLayoutMkLst>
            <pc:docMk/>
            <pc:sldMasterMk cId="3015920182" sldId="2147483648"/>
            <pc:sldLayoutMk cId="2010323449" sldId="2147483650"/>
          </pc:sldLayoutMkLst>
        </pc:sldLayoutChg>
        <pc:sldLayoutChg chg="setBg">
          <pc:chgData name="Lakics Péter" userId="e7276760-9926-4678-97db-de2d73da39d3" providerId="ADAL" clId="{B35C81F9-B57F-43FC-B3BF-EE13D07BBF7F}" dt="2026-05-10T11:53:14.338" v="14"/>
          <pc:sldLayoutMkLst>
            <pc:docMk/>
            <pc:sldMasterMk cId="3015920182" sldId="2147483648"/>
            <pc:sldLayoutMk cId="2895057861" sldId="2147483651"/>
          </pc:sldLayoutMkLst>
        </pc:sldLayoutChg>
        <pc:sldLayoutChg chg="setBg">
          <pc:chgData name="Lakics Péter" userId="e7276760-9926-4678-97db-de2d73da39d3" providerId="ADAL" clId="{B35C81F9-B57F-43FC-B3BF-EE13D07BBF7F}" dt="2026-05-10T11:53:14.338" v="14"/>
          <pc:sldLayoutMkLst>
            <pc:docMk/>
            <pc:sldMasterMk cId="3015920182" sldId="2147483648"/>
            <pc:sldLayoutMk cId="1690046557" sldId="2147483652"/>
          </pc:sldLayoutMkLst>
        </pc:sldLayoutChg>
        <pc:sldLayoutChg chg="setBg">
          <pc:chgData name="Lakics Péter" userId="e7276760-9926-4678-97db-de2d73da39d3" providerId="ADAL" clId="{B35C81F9-B57F-43FC-B3BF-EE13D07BBF7F}" dt="2026-05-10T11:53:14.338" v="14"/>
          <pc:sldLayoutMkLst>
            <pc:docMk/>
            <pc:sldMasterMk cId="3015920182" sldId="2147483648"/>
            <pc:sldLayoutMk cId="1124916736" sldId="2147483653"/>
          </pc:sldLayoutMkLst>
        </pc:sldLayoutChg>
        <pc:sldLayoutChg chg="setBg">
          <pc:chgData name="Lakics Péter" userId="e7276760-9926-4678-97db-de2d73da39d3" providerId="ADAL" clId="{B35C81F9-B57F-43FC-B3BF-EE13D07BBF7F}" dt="2026-05-10T11:53:14.338" v="14"/>
          <pc:sldLayoutMkLst>
            <pc:docMk/>
            <pc:sldMasterMk cId="3015920182" sldId="2147483648"/>
            <pc:sldLayoutMk cId="3734775581" sldId="2147483654"/>
          </pc:sldLayoutMkLst>
        </pc:sldLayoutChg>
        <pc:sldLayoutChg chg="setBg">
          <pc:chgData name="Lakics Péter" userId="e7276760-9926-4678-97db-de2d73da39d3" providerId="ADAL" clId="{B35C81F9-B57F-43FC-B3BF-EE13D07BBF7F}" dt="2026-05-10T11:53:14.338" v="14"/>
          <pc:sldLayoutMkLst>
            <pc:docMk/>
            <pc:sldMasterMk cId="3015920182" sldId="2147483648"/>
            <pc:sldLayoutMk cId="2163358046" sldId="2147483655"/>
          </pc:sldLayoutMkLst>
        </pc:sldLayoutChg>
        <pc:sldLayoutChg chg="setBg">
          <pc:chgData name="Lakics Péter" userId="e7276760-9926-4678-97db-de2d73da39d3" providerId="ADAL" clId="{B35C81F9-B57F-43FC-B3BF-EE13D07BBF7F}" dt="2026-05-10T11:53:14.338" v="14"/>
          <pc:sldLayoutMkLst>
            <pc:docMk/>
            <pc:sldMasterMk cId="3015920182" sldId="2147483648"/>
            <pc:sldLayoutMk cId="311019217" sldId="2147483656"/>
          </pc:sldLayoutMkLst>
        </pc:sldLayoutChg>
        <pc:sldLayoutChg chg="setBg">
          <pc:chgData name="Lakics Péter" userId="e7276760-9926-4678-97db-de2d73da39d3" providerId="ADAL" clId="{B35C81F9-B57F-43FC-B3BF-EE13D07BBF7F}" dt="2026-05-10T11:53:14.338" v="14"/>
          <pc:sldLayoutMkLst>
            <pc:docMk/>
            <pc:sldMasterMk cId="3015920182" sldId="2147483648"/>
            <pc:sldLayoutMk cId="3792223696" sldId="2147483657"/>
          </pc:sldLayoutMkLst>
        </pc:sldLayoutChg>
        <pc:sldLayoutChg chg="setBg">
          <pc:chgData name="Lakics Péter" userId="e7276760-9926-4678-97db-de2d73da39d3" providerId="ADAL" clId="{B35C81F9-B57F-43FC-B3BF-EE13D07BBF7F}" dt="2026-05-10T11:53:14.338" v="14"/>
          <pc:sldLayoutMkLst>
            <pc:docMk/>
            <pc:sldMasterMk cId="3015920182" sldId="2147483648"/>
            <pc:sldLayoutMk cId="1979788282" sldId="2147483658"/>
          </pc:sldLayoutMkLst>
        </pc:sldLayoutChg>
        <pc:sldLayoutChg chg="setBg">
          <pc:chgData name="Lakics Péter" userId="e7276760-9926-4678-97db-de2d73da39d3" providerId="ADAL" clId="{B35C81F9-B57F-43FC-B3BF-EE13D07BBF7F}" dt="2026-05-10T11:53:14.338" v="14"/>
          <pc:sldLayoutMkLst>
            <pc:docMk/>
            <pc:sldMasterMk cId="3015920182" sldId="2147483648"/>
            <pc:sldLayoutMk cId="3636200439" sldId="214748365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 dirty="0" err="1"/>
              <a:t>Runtime</a:t>
            </a:r>
            <a:r>
              <a:rPr lang="hu-HU" dirty="0"/>
              <a:t> in log10</a:t>
            </a:r>
            <a:r>
              <a:rPr lang="hu-HU" baseline="0" dirty="0"/>
              <a:t> </a:t>
            </a:r>
            <a:r>
              <a:rPr lang="hu-HU" baseline="0" dirty="0" err="1"/>
              <a:t>scale</a:t>
            </a:r>
            <a:r>
              <a:rPr lang="en-US" dirty="0"/>
              <a:t> (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Munka1!$B$1</c:f>
              <c:strCache>
                <c:ptCount val="1"/>
                <c:pt idx="0">
                  <c:v>Futásidő (ms)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11 277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006-49BD-8FBB-69DDDC4873E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7</a:t>
                    </a:r>
                    <a:r>
                      <a:rPr lang="en-US" baseline="0"/>
                      <a:t> 353</a:t>
                    </a:r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006-49BD-8FBB-69DDDC4873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hu-H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Munka1!$A$2:$A$5</c:f>
              <c:strCache>
                <c:ptCount val="4"/>
                <c:pt idx="0">
                  <c:v>CPU (float)</c:v>
                </c:pt>
                <c:pt idx="1">
                  <c:v>CPU (double)</c:v>
                </c:pt>
                <c:pt idx="2">
                  <c:v>GPU (double)</c:v>
                </c:pt>
                <c:pt idx="3">
                  <c:v>GPU (float)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4"/>
                <c:pt idx="0">
                  <c:v>11277</c:v>
                </c:pt>
                <c:pt idx="1">
                  <c:v>7353</c:v>
                </c:pt>
                <c:pt idx="2">
                  <c:v>132.85</c:v>
                </c:pt>
                <c:pt idx="3">
                  <c:v>91.37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006-49BD-8FBB-69DDDC4873E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3"/>
        <c:overlap val="100"/>
        <c:axId val="1348580016"/>
        <c:axId val="1348578096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Munka1!$C$1</c15:sqref>
                        </c15:formulaRef>
                      </c:ext>
                    </c:extLst>
                    <c:strCache>
                      <c:ptCount val="1"/>
                      <c:pt idx="0">
                        <c:v>Oszlop1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hu-HU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Munka1!$A$2:$A$5</c15:sqref>
                        </c15:formulaRef>
                      </c:ext>
                    </c:extLst>
                    <c:strCache>
                      <c:ptCount val="4"/>
                      <c:pt idx="0">
                        <c:v>CPU (float)</c:v>
                      </c:pt>
                      <c:pt idx="1">
                        <c:v>CPU (double)</c:v>
                      </c:pt>
                      <c:pt idx="2">
                        <c:v>GPU (double)</c:v>
                      </c:pt>
                      <c:pt idx="3">
                        <c:v>GPU (float)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Munka1!$C$2:$C$6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6006-49BD-8FBB-69DDDC4873E4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Munka1!$D$1</c15:sqref>
                        </c15:formulaRef>
                      </c:ext>
                    </c:extLst>
                    <c:strCache>
                      <c:ptCount val="1"/>
                      <c:pt idx="0">
                        <c:v>Oszlop2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hu-HU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Munka1!$A$2:$A$5</c15:sqref>
                        </c15:formulaRef>
                      </c:ext>
                    </c:extLst>
                    <c:strCache>
                      <c:ptCount val="4"/>
                      <c:pt idx="0">
                        <c:v>CPU (float)</c:v>
                      </c:pt>
                      <c:pt idx="1">
                        <c:v>CPU (double)</c:v>
                      </c:pt>
                      <c:pt idx="2">
                        <c:v>GPU (double)</c:v>
                      </c:pt>
                      <c:pt idx="3">
                        <c:v>GPU (float)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Munka1!$D$2:$D$6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4-6006-49BD-8FBB-69DDDC4873E4}"/>
                  </c:ext>
                </c:extLst>
              </c15:ser>
            </c15:filteredBarSeries>
          </c:ext>
        </c:extLst>
      </c:barChart>
      <c:catAx>
        <c:axId val="1348580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1348578096"/>
        <c:crosses val="autoZero"/>
        <c:auto val="1"/>
        <c:lblAlgn val="ctr"/>
        <c:lblOffset val="100"/>
        <c:noMultiLvlLbl val="0"/>
      </c:catAx>
      <c:valAx>
        <c:axId val="1348578096"/>
        <c:scaling>
          <c:logBase val="10"/>
          <c:orientation val="minMax"/>
          <c:max val="12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\ ###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1348580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CE75C5-9246-0338-CB0D-7017E8262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2ABE0D4-5F08-187D-8902-B1246C853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8855CD2-1727-34C3-9983-F56441B0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249E7-49D0-4073-887F-844B3E5967F5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7B0DBB1-9D48-5318-C118-E3CC062D6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6D7DFD1-15B1-2989-5F04-9093B5510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59D-39AE-4029-ADC4-5A2D8E46555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4788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2573BE-0CA0-0DDC-0A36-2A13D6B10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90E817-4BDF-0F84-1CB9-7C4355489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0D941C0-DC21-98F4-713C-77C72560F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249E7-49D0-4073-887F-844B3E5967F5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71BF2D6-3716-17F1-9E71-8CFDB537B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F0C5ECD-4C99-AF37-9189-A31EDA10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59D-39AE-4029-ADC4-5A2D8E46555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0323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17BFA3-1F5C-3646-757F-237DA0388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0E95F35-652B-44A1-AC8F-018F841BB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FB7983B-9DC7-359B-70C2-97B7C7107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249E7-49D0-4073-887F-844B3E5967F5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62DC8BE-F049-0F26-C1C2-F2B3059FB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A086EC3-C2ED-D83B-63DE-8494B18A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59D-39AE-4029-ADC4-5A2D8E46555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5057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440852-9063-2D24-8C88-F1C0BC1E5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CD4C67C-85FA-B41B-75C3-0F4EAA6EC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361C2C5-486D-61AA-022B-CB5CBAA89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7050071-A5F5-E7FB-2A27-8D8C2CBD7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249E7-49D0-4073-887F-844B3E5967F5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ABDF9FC-C553-1E44-9987-019EFFDD2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115BBAA-E85B-F0AA-D27E-06284704E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59D-39AE-4029-ADC4-5A2D8E46555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004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7E80ED-D561-6C17-650B-2A3755096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FB0B7D5-ECC6-111E-D242-86B192AD6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55F76A5-7B7B-F483-C222-DEFE922A8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EBAAE19-2F21-84AC-8DA2-4829A714B2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A806B67-DA46-289F-98D4-C33D1DB1E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ACA5D91-3FCA-BCCC-C818-CB8C4BDDA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249E7-49D0-4073-887F-844B3E5967F5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BDCEB501-7498-69C7-1DFB-15F5E4E64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13DFE441-598D-F8A4-E9AC-6F6FC9C69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59D-39AE-4029-ADC4-5A2D8E46555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4916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8DB82B-81D8-300F-C7B1-3104176E1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37F98AD-5BB8-5616-DC2D-95303AEA1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249E7-49D0-4073-887F-844B3E5967F5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C3BFB60-24DB-602D-4E67-49C3B3829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4B47482-3605-3706-127E-799CB11F3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59D-39AE-4029-ADC4-5A2D8E46555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4775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C3BD226-A0D3-1676-77D6-173D4DDC2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249E7-49D0-4073-887F-844B3E5967F5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E19B9647-0ADB-922C-53D7-4497D8869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953122D-ACE4-CA3A-259F-1B806DDBA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59D-39AE-4029-ADC4-5A2D8E46555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3358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072C2E-7B2B-B46E-AE65-DC3C4CE0D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DDE8CA-8A0E-DB8E-8560-125531DF5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1232EB4-9B34-5A5A-C62D-125621031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C72995B-43C9-20BF-6F19-A2E36C4AD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249E7-49D0-4073-887F-844B3E5967F5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8FD80C0-7FED-05CB-6211-DB1194D07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AA6AFF2-0FFE-A174-4128-8FD72FF95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59D-39AE-4029-ADC4-5A2D8E46555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019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31F583-AB73-3C2D-9172-45D8CE28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7077A8CB-88A1-B1A6-9A31-F4330F1655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904B349-CD2A-9157-BF50-17228EC7B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99F97B4-1716-AEE3-EFC0-038CE9874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249E7-49D0-4073-887F-844B3E5967F5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68A2E0A-23EB-3844-60C0-A91C988CC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F3AB79A-10C0-82BF-2CF7-FFF355292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59D-39AE-4029-ADC4-5A2D8E46555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9222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EBE156-D866-C912-5043-D63A1B33E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3CFE64C-648B-05F4-A546-B1221E5C5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5AE23CB-454D-692F-F4DB-5E8C4A6F5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249E7-49D0-4073-887F-844B3E5967F5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06DCA29-B4A1-6DA1-58F3-9A5DD6EF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45C2895-4F7B-0FC8-371C-1765870F6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59D-39AE-4029-ADC4-5A2D8E46555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9788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AAADE7A-C818-2EC7-724F-4317C75FE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0A280A7-1557-D82E-2C33-D00EA2E65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5A53BC-009C-A335-E220-DB31B2072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249E7-49D0-4073-887F-844B3E5967F5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E876DC0-0C89-1DCE-D39A-CF37B616A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EC5E611-30FB-2C86-5D42-B952D4212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1F59D-39AE-4029-ADC4-5A2D8E46555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6200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D7274EA0-D85B-67C2-77EE-064F86996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2B5E180-AF01-407A-26B4-86F418C29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BCF9465-EFDB-4A25-BEB1-4B4BAA2F37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249E7-49D0-4073-887F-844B3E5967F5}" type="datetimeFigureOut">
              <a:rPr lang="hu-HU" smtClean="0"/>
              <a:t>2026. 05. 10.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0EBB3E8-34E9-70B4-FE4E-4F1A947F6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9057C1F-2084-6EA8-DE13-F9A671F85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21F59D-39AE-4029-ADC4-5A2D8E46555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5920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4420061-6CB6-7E58-1DAC-F50A55A30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hu-HU" sz="4800" dirty="0">
                <a:solidFill>
                  <a:srgbClr val="FFFFFF"/>
                </a:solidFill>
              </a:rPr>
              <a:t>Fraktálok vizualizálása párhuzamosítással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7777035-7BAD-74FD-0886-66E1FA706B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hu-HU" dirty="0"/>
              <a:t>Lakics Péter</a:t>
            </a:r>
          </a:p>
        </p:txBody>
      </p:sp>
    </p:spTree>
    <p:extLst>
      <p:ext uri="{BB962C8B-B14F-4D97-AF65-F5344CB8AC3E}">
        <p14:creationId xmlns:p14="http://schemas.microsoft.com/office/powerpoint/2010/main" val="846845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2E2A194-4893-295A-BD36-1EA9F7E1D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4 </a:t>
            </a:r>
            <a:r>
              <a:rPr lang="en-US" sz="4000" dirty="0" err="1">
                <a:solidFill>
                  <a:srgbClr val="FFFFFF"/>
                </a:solidFill>
              </a:rPr>
              <a:t>féle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fraktál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közül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lehet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választani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4308886-0F37-590E-24EA-EBEF79D39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909" y="1661123"/>
            <a:ext cx="3921176" cy="294088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3A120F8E-F15C-584F-415F-6ED7B3C303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7" y="1654732"/>
            <a:ext cx="3921175" cy="2940880"/>
          </a:xfrm>
          <a:prstGeom prst="rect">
            <a:avLst/>
          </a:prstGeom>
        </p:spPr>
      </p:pic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A249365-F49C-5510-7212-1293079D38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956" y="1655227"/>
            <a:ext cx="3921175" cy="2940879"/>
          </a:xfrm>
          <a:prstGeom prst="rect">
            <a:avLst/>
          </a:prstGeom>
        </p:spPr>
      </p:pic>
      <p:sp>
        <p:nvSpPr>
          <p:cNvPr id="22" name="Szövegdoboz 21">
            <a:extLst>
              <a:ext uri="{FF2B5EF4-FFF2-40B4-BE49-F238E27FC236}">
                <a16:creationId xmlns:a16="http://schemas.microsoft.com/office/drawing/2014/main" id="{C6C00A37-024F-F8AF-46BD-9FDB6AE2FD7A}"/>
              </a:ext>
            </a:extLst>
          </p:cNvPr>
          <p:cNvSpPr txBox="1"/>
          <p:nvPr/>
        </p:nvSpPr>
        <p:spPr>
          <a:xfrm>
            <a:off x="9038943" y="4688157"/>
            <a:ext cx="2177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3. </a:t>
            </a:r>
            <a:r>
              <a:rPr lang="hu-HU" sz="2400" dirty="0" err="1"/>
              <a:t>Burning</a:t>
            </a:r>
            <a:r>
              <a:rPr lang="hu-HU" sz="2400" dirty="0"/>
              <a:t> </a:t>
            </a:r>
            <a:r>
              <a:rPr lang="hu-HU" sz="2400" dirty="0" err="1"/>
              <a:t>Ship</a:t>
            </a:r>
            <a:endParaRPr lang="hu-HU" sz="2400" dirty="0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547C527D-3257-91C3-2227-D4EBA88D13FE}"/>
              </a:ext>
            </a:extLst>
          </p:cNvPr>
          <p:cNvSpPr txBox="1"/>
          <p:nvPr/>
        </p:nvSpPr>
        <p:spPr>
          <a:xfrm>
            <a:off x="1047701" y="4688155"/>
            <a:ext cx="2033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1. Mandelbrot</a:t>
            </a:r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994D7C2A-2EA4-F7D2-6D44-ADFB799AE595}"/>
              </a:ext>
            </a:extLst>
          </p:cNvPr>
          <p:cNvSpPr txBox="1"/>
          <p:nvPr/>
        </p:nvSpPr>
        <p:spPr>
          <a:xfrm>
            <a:off x="5269772" y="4688155"/>
            <a:ext cx="1414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2. </a:t>
            </a:r>
            <a:r>
              <a:rPr lang="hu-HU" sz="2400" dirty="0" err="1"/>
              <a:t>Tricorn</a:t>
            </a:r>
            <a:endParaRPr lang="hu-HU" sz="2400" dirty="0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B17635F6-5F29-3E62-F1E9-DD780D4FF47D}"/>
              </a:ext>
            </a:extLst>
          </p:cNvPr>
          <p:cNvSpPr txBox="1"/>
          <p:nvPr/>
        </p:nvSpPr>
        <p:spPr>
          <a:xfrm>
            <a:off x="103867" y="5773076"/>
            <a:ext cx="9532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És a  4. a Julia-halmazok, amik végtelen különböző módon nézhetnek ki</a:t>
            </a:r>
          </a:p>
        </p:txBody>
      </p:sp>
    </p:spTree>
    <p:extLst>
      <p:ext uri="{BB962C8B-B14F-4D97-AF65-F5344CB8AC3E}">
        <p14:creationId xmlns:p14="http://schemas.microsoft.com/office/powerpoint/2010/main" val="944236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CE99B-D8F0-A8B0-71B3-FDA384C1F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CAEEFFF-6A7A-5D30-14CD-650BD7DFA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E476A5-62A0-6AC8-E560-1302E7416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E82609-C767-70D3-9E07-77ECF92F0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B4A97A-BB3D-D8D7-A3AF-D37A92750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38EE5C0-997F-771E-AC93-9549D8D8F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288404"/>
            <a:ext cx="7566099" cy="97744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Julia-</a:t>
            </a:r>
            <a:r>
              <a:rPr lang="en-US" sz="4000" dirty="0" err="1">
                <a:solidFill>
                  <a:srgbClr val="FFFFFF"/>
                </a:solidFill>
              </a:rPr>
              <a:t>halmazok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közül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hu-HU" sz="4000" dirty="0">
                <a:solidFill>
                  <a:srgbClr val="FFFFFF"/>
                </a:solidFill>
              </a:rPr>
              <a:t>néhány példa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B0477C4A-EEEE-F938-05DE-A34F036D5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95" y="1646098"/>
            <a:ext cx="3377026" cy="2532770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B220EA98-838B-F2A5-67F8-456E2A4E9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487" y="1654298"/>
            <a:ext cx="3377025" cy="2532769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5F815358-DBA5-B027-2D2C-9260300815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91" y="4266398"/>
            <a:ext cx="3377027" cy="2532770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D08F627B-B75F-A722-1C20-E07B21AA59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079" y="4266398"/>
            <a:ext cx="3377027" cy="2532770"/>
          </a:xfrm>
          <a:prstGeom prst="rect">
            <a:avLst/>
          </a:prstGeom>
        </p:spPr>
      </p:pic>
      <p:pic>
        <p:nvPicPr>
          <p:cNvPr id="30" name="Kép 29">
            <a:extLst>
              <a:ext uri="{FF2B5EF4-FFF2-40B4-BE49-F238E27FC236}">
                <a16:creationId xmlns:a16="http://schemas.microsoft.com/office/drawing/2014/main" id="{82AD922F-2EED-45FE-66A2-4F282112BF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486" y="4266399"/>
            <a:ext cx="3377026" cy="2532769"/>
          </a:xfrm>
          <a:prstGeom prst="rect">
            <a:avLst/>
          </a:prstGeom>
        </p:spPr>
      </p:pic>
      <p:pic>
        <p:nvPicPr>
          <p:cNvPr id="33" name="Kép 32">
            <a:extLst>
              <a:ext uri="{FF2B5EF4-FFF2-40B4-BE49-F238E27FC236}">
                <a16:creationId xmlns:a16="http://schemas.microsoft.com/office/drawing/2014/main" id="{F65FEBA6-703E-05FD-BC29-7D0A678149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079" y="1654298"/>
            <a:ext cx="3377026" cy="253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39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89E15B-E279-64BE-8068-7E7D8DBC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0C530F3-4708-B478-7DAE-ED5494FF9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8F5F5C-FE0E-A825-1F5C-FE32D4B75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633122-85A7-EA7F-2E2E-2C56D1D1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A779B9-4C20-6D87-A35D-4B1342326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CCA5975-C8F5-DE4A-4F88-CFBF495E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288404"/>
            <a:ext cx="7566099" cy="97744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 sz="4000" dirty="0">
                <a:solidFill>
                  <a:srgbClr val="FFFFFF"/>
                </a:solidFill>
              </a:rPr>
              <a:t>Kernel működése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4591F7C8-30D8-536B-D858-042D5B9A6356}"/>
              </a:ext>
            </a:extLst>
          </p:cNvPr>
          <p:cNvSpPr txBox="1"/>
          <p:nvPr/>
        </p:nvSpPr>
        <p:spPr>
          <a:xfrm>
            <a:off x="564991" y="1797737"/>
            <a:ext cx="10757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A képet 16x16-os blokkokra osztja, ezen belül 1-1 szál felel 1 pixel kiszámításáért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1CF52CD-3496-82C2-BA08-18A0D06DB703}"/>
              </a:ext>
            </a:extLst>
          </p:cNvPr>
          <p:cNvSpPr txBox="1"/>
          <p:nvPr/>
        </p:nvSpPr>
        <p:spPr>
          <a:xfrm>
            <a:off x="564991" y="2377437"/>
            <a:ext cx="106143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A pixel koordinátáit leképezi a komplex síkra, majd ezt iteratívan behelyettesíti a</a:t>
            </a:r>
            <a:br>
              <a:rPr lang="hu-HU" sz="2400" dirty="0"/>
            </a:br>
            <a:r>
              <a:rPr lang="hu-HU" sz="2400" dirty="0"/>
              <a:t>következő iterációba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C2E0EFA9-38BC-D9FD-0564-0FFF61DF5F6E}"/>
                  </a:ext>
                </a:extLst>
              </p:cNvPr>
              <p:cNvSpPr txBox="1"/>
              <p:nvPr/>
            </p:nvSpPr>
            <p:spPr>
              <a:xfrm>
                <a:off x="564991" y="3326469"/>
                <a:ext cx="977825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sz="2400" dirty="0"/>
                  <a:t>Például a Mandelbrot halmaz esetén: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hu-HU" sz="2400" b="0" i="1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hu-HU" sz="2400" dirty="0"/>
                  <a:t>, ahol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2400" b="0" i="1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hu-HU" sz="2400" dirty="0"/>
                  <a:t> a pixel</a:t>
                </a:r>
                <a:br>
                  <a:rPr lang="hu-HU" sz="2400" dirty="0"/>
                </a:br>
                <a:r>
                  <a:rPr lang="hu-HU" sz="2400" dirty="0"/>
                  <a:t>koordinátájának felel meg</a:t>
                </a:r>
              </a:p>
            </p:txBody>
          </p:sp>
        </mc:Choice>
        <mc:Fallback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C2E0EFA9-38BC-D9FD-0564-0FFF61DF5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991" y="3326469"/>
                <a:ext cx="9778254" cy="830997"/>
              </a:xfrm>
              <a:prstGeom prst="rect">
                <a:avLst/>
              </a:prstGeom>
              <a:blipFill>
                <a:blip r:embed="rId2"/>
                <a:stretch>
                  <a:fillRect l="-998" t="-5147" b="-1617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29CF8558-565C-15BD-61FC-6D35BA876E79}"/>
                  </a:ext>
                </a:extLst>
              </p:cNvPr>
              <p:cNvSpPr txBox="1"/>
              <p:nvPr/>
            </p:nvSpPr>
            <p:spPr>
              <a:xfrm>
                <a:off x="564989" y="4275501"/>
                <a:ext cx="785157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sz="2400" dirty="0"/>
                  <a:t>A Julia-halmazok abból a szempontból különlegesek, hogy</a:t>
                </a:r>
                <a:br>
                  <a:rPr lang="hu-HU" sz="2400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2400" b="0" i="1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hu-HU" sz="2400" dirty="0"/>
                  <a:t> értéke konstans és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u-HU" sz="2400" dirty="0"/>
                  <a:t> felel meg a pixel koordinátának</a:t>
                </a:r>
              </a:p>
            </p:txBody>
          </p:sp>
        </mc:Choice>
        <mc:Fallback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29CF8558-565C-15BD-61FC-6D35BA876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989" y="4275501"/>
                <a:ext cx="7851573" cy="830997"/>
              </a:xfrm>
              <a:prstGeom prst="rect">
                <a:avLst/>
              </a:prstGeom>
              <a:blipFill>
                <a:blip r:embed="rId3"/>
                <a:stretch>
                  <a:fillRect l="-1242" t="-5839" r="-233" b="-15328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Szövegdoboz 6">
                <a:extLst>
                  <a:ext uri="{FF2B5EF4-FFF2-40B4-BE49-F238E27FC236}">
                    <a16:creationId xmlns:a16="http://schemas.microsoft.com/office/drawing/2014/main" id="{E7425AC4-1C01-734A-7F0A-8590319ABFE0}"/>
                  </a:ext>
                </a:extLst>
              </p:cNvPr>
              <p:cNvSpPr txBox="1"/>
              <p:nvPr/>
            </p:nvSpPr>
            <p:spPr>
              <a:xfrm>
                <a:off x="564989" y="5224533"/>
                <a:ext cx="949247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sz="2400" dirty="0"/>
                  <a:t>Ebből következik a végtelen különböző Julia-halmaz létezése, hiszen a</a:t>
                </a:r>
                <a:br>
                  <a:rPr lang="hu-HU" sz="2400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2400" b="0" i="1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hu-HU" sz="2400" dirty="0"/>
                  <a:t> komplex szám változtatásával különböző kiinduló állapotokat kapunk</a:t>
                </a:r>
              </a:p>
            </p:txBody>
          </p:sp>
        </mc:Choice>
        <mc:Fallback>
          <p:sp>
            <p:nvSpPr>
              <p:cNvPr id="7" name="Szövegdoboz 6">
                <a:extLst>
                  <a:ext uri="{FF2B5EF4-FFF2-40B4-BE49-F238E27FC236}">
                    <a16:creationId xmlns:a16="http://schemas.microsoft.com/office/drawing/2014/main" id="{E7425AC4-1C01-734A-7F0A-8590319AB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989" y="5224533"/>
                <a:ext cx="9492470" cy="830997"/>
              </a:xfrm>
              <a:prstGeom prst="rect">
                <a:avLst/>
              </a:prstGeom>
              <a:blipFill>
                <a:blip r:embed="rId4"/>
                <a:stretch>
                  <a:fillRect l="-1028" t="-5882" b="-1617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zövegdoboz 7">
            <a:extLst>
              <a:ext uri="{FF2B5EF4-FFF2-40B4-BE49-F238E27FC236}">
                <a16:creationId xmlns:a16="http://schemas.microsoft.com/office/drawing/2014/main" id="{143C8310-F44C-0B74-0BC4-DFE1A24FD5F4}"/>
              </a:ext>
            </a:extLst>
          </p:cNvPr>
          <p:cNvSpPr txBox="1"/>
          <p:nvPr/>
        </p:nvSpPr>
        <p:spPr>
          <a:xfrm>
            <a:off x="564989" y="6173565"/>
            <a:ext cx="6607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Az így kapott értékeket egy bitmap képként menti</a:t>
            </a:r>
          </a:p>
        </p:txBody>
      </p:sp>
    </p:spTree>
    <p:extLst>
      <p:ext uri="{BB962C8B-B14F-4D97-AF65-F5344CB8AC3E}">
        <p14:creationId xmlns:p14="http://schemas.microsoft.com/office/powerpoint/2010/main" val="3965702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6EF8F-4FF2-C38B-6E70-2BDC8B44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561BE78-E6E5-4AAD-ECCE-7AD34189B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FA628F-70BF-C30D-EDF4-8B8F62944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71ECEC-6284-FFE8-4EAC-C90CDDF06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40A059-7344-8D1C-6A43-395358ACE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7833474-CD2E-72BA-639A-65BF8CCE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288404"/>
            <a:ext cx="7566099" cy="97744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 sz="4000" dirty="0">
                <a:solidFill>
                  <a:srgbClr val="FFFFFF"/>
                </a:solidFill>
              </a:rPr>
              <a:t>CPU-hoz képest mért gyorsítás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9" name="Tartalom helye 3">
            <a:extLst>
              <a:ext uri="{FF2B5EF4-FFF2-40B4-BE49-F238E27FC236}">
                <a16:creationId xmlns:a16="http://schemas.microsoft.com/office/drawing/2014/main" id="{25BC1E56-AD92-04BF-0603-32ACAA55C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3935488"/>
              </p:ext>
            </p:extLst>
          </p:nvPr>
        </p:nvGraphicFramePr>
        <p:xfrm>
          <a:off x="127857" y="1694895"/>
          <a:ext cx="8001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412966590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52107938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06306941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16189398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91330318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>
                          <a:effectLst/>
                        </a:rPr>
                        <a:t>CPU</a:t>
                      </a:r>
                      <a:endParaRPr lang="hu-HU" sz="27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>
                          <a:effectLst/>
                        </a:rPr>
                        <a:t>CPU </a:t>
                      </a:r>
                      <a:r>
                        <a:rPr lang="hu-HU" sz="2700" u="none" strike="noStrike" dirty="0" err="1">
                          <a:effectLst/>
                        </a:rPr>
                        <a:t>Type</a:t>
                      </a:r>
                      <a:endParaRPr lang="hu-HU" sz="27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>
                          <a:effectLst/>
                        </a:rPr>
                        <a:t>GPU</a:t>
                      </a:r>
                      <a:endParaRPr lang="hu-HU" sz="27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>
                          <a:effectLst/>
                        </a:rPr>
                        <a:t>GPU </a:t>
                      </a:r>
                      <a:r>
                        <a:rPr lang="hu-HU" sz="2700" u="none" strike="noStrike" dirty="0" err="1">
                          <a:effectLst/>
                        </a:rPr>
                        <a:t>Type</a:t>
                      </a:r>
                      <a:endParaRPr lang="hu-HU" sz="27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 err="1">
                          <a:effectLst/>
                        </a:rPr>
                        <a:t>Speedup</a:t>
                      </a:r>
                      <a:endParaRPr lang="hu-HU" sz="27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/>
                </a:tc>
                <a:extLst>
                  <a:ext uri="{0D108BD9-81ED-4DB2-BD59-A6C34878D82A}">
                    <a16:rowId xmlns:a16="http://schemas.microsoft.com/office/drawing/2014/main" val="300830406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>
                          <a:effectLst/>
                        </a:rPr>
                        <a:t>7 353ms</a:t>
                      </a:r>
                      <a:endParaRPr lang="hu-HU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>
                          <a:effectLst/>
                        </a:rPr>
                        <a:t>double</a:t>
                      </a:r>
                      <a:endParaRPr lang="hu-HU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>
                          <a:effectLst/>
                        </a:rPr>
                        <a:t>132.85ms</a:t>
                      </a:r>
                      <a:endParaRPr lang="hu-HU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>
                          <a:effectLst/>
                        </a:rPr>
                        <a:t>double</a:t>
                      </a:r>
                      <a:endParaRPr lang="hu-HU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>
                          <a:effectLst/>
                        </a:rPr>
                        <a:t>55.35x</a:t>
                      </a:r>
                      <a:endParaRPr lang="hu-HU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/>
                </a:tc>
                <a:extLst>
                  <a:ext uri="{0D108BD9-81ED-4DB2-BD59-A6C34878D82A}">
                    <a16:rowId xmlns:a16="http://schemas.microsoft.com/office/drawing/2014/main" val="5166937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>
                          <a:effectLst/>
                        </a:rPr>
                        <a:t>11 277ms</a:t>
                      </a:r>
                      <a:endParaRPr lang="hu-HU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>
                          <a:effectLst/>
                        </a:rPr>
                        <a:t>float</a:t>
                      </a:r>
                      <a:endParaRPr lang="hu-HU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>
                          <a:effectLst/>
                        </a:rPr>
                        <a:t>91.37ms</a:t>
                      </a:r>
                      <a:endParaRPr lang="hu-HU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 err="1">
                          <a:effectLst/>
                        </a:rPr>
                        <a:t>float</a:t>
                      </a:r>
                      <a:endParaRPr lang="hu-HU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>
                          <a:effectLst/>
                        </a:rPr>
                        <a:t>123.42x</a:t>
                      </a:r>
                      <a:endParaRPr lang="hu-HU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4496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>
                          <a:effectLst/>
                        </a:rPr>
                        <a:t>7 260ms</a:t>
                      </a:r>
                      <a:endParaRPr lang="hu-HU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 err="1">
                          <a:effectLst/>
                        </a:rPr>
                        <a:t>double</a:t>
                      </a:r>
                      <a:endParaRPr lang="hu-HU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>
                          <a:effectLst/>
                        </a:rPr>
                        <a:t>90.78ms</a:t>
                      </a:r>
                      <a:endParaRPr lang="hu-HU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 err="1">
                          <a:effectLst/>
                        </a:rPr>
                        <a:t>float</a:t>
                      </a:r>
                      <a:endParaRPr lang="hu-HU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2700" u="none" strike="noStrike" dirty="0">
                          <a:effectLst/>
                        </a:rPr>
                        <a:t>79.97x</a:t>
                      </a:r>
                      <a:endParaRPr lang="hu-HU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289" marR="23289" marT="23289" marB="0" anchor="ctr">
                    <a:lnL w="12700" cmpd="sng">
                      <a:noFill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5919492"/>
                  </a:ext>
                </a:extLst>
              </a:tr>
            </a:tbl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2C9C5C0-E81A-2528-A150-BF6AE7DC52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005902"/>
              </p:ext>
            </p:extLst>
          </p:nvPr>
        </p:nvGraphicFramePr>
        <p:xfrm>
          <a:off x="127857" y="3642144"/>
          <a:ext cx="4546886" cy="3131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Szövegdoboz 10">
            <a:extLst>
              <a:ext uri="{FF2B5EF4-FFF2-40B4-BE49-F238E27FC236}">
                <a16:creationId xmlns:a16="http://schemas.microsoft.com/office/drawing/2014/main" id="{37A1BFF6-BB7B-6E77-1A5B-34164E7EB981}"/>
              </a:ext>
            </a:extLst>
          </p:cNvPr>
          <p:cNvSpPr txBox="1"/>
          <p:nvPr/>
        </p:nvSpPr>
        <p:spPr>
          <a:xfrm>
            <a:off x="5275736" y="3934332"/>
            <a:ext cx="6315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Egy UHD (3840 x 2160) </a:t>
            </a:r>
            <a:r>
              <a:rPr lang="hu-HU" sz="2400" dirty="0" err="1"/>
              <a:t>Burning</a:t>
            </a:r>
            <a:r>
              <a:rPr lang="hu-HU" sz="2400" dirty="0"/>
              <a:t> </a:t>
            </a:r>
            <a:r>
              <a:rPr lang="hu-HU" sz="2400" dirty="0" err="1"/>
              <a:t>Ship</a:t>
            </a:r>
            <a:r>
              <a:rPr lang="hu-HU" sz="2400" dirty="0"/>
              <a:t> fraktál generálásának futásideje látható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D6CF2956-497B-E291-9490-B7E95C48217D}"/>
              </a:ext>
            </a:extLst>
          </p:cNvPr>
          <p:cNvSpPr txBox="1"/>
          <p:nvPr/>
        </p:nvSpPr>
        <p:spPr>
          <a:xfrm>
            <a:off x="5275736" y="4877703"/>
            <a:ext cx="63152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Látható, hogy a CPU </a:t>
            </a:r>
            <a:r>
              <a:rPr lang="hu-HU" sz="2400" dirty="0" err="1"/>
              <a:t>double</a:t>
            </a:r>
            <a:r>
              <a:rPr lang="hu-HU" sz="2400" dirty="0"/>
              <a:t> típusú változókkal éri el a leggyorsabb </a:t>
            </a:r>
            <a:r>
              <a:rPr lang="hu-HU" sz="2400" dirty="0" err="1"/>
              <a:t>futásidejét</a:t>
            </a:r>
            <a:r>
              <a:rPr lang="hu-HU" sz="2400" dirty="0"/>
              <a:t>. Ehhez képest a GPU </a:t>
            </a:r>
            <a:r>
              <a:rPr lang="hu-HU" sz="2400" dirty="0" err="1"/>
              <a:t>float</a:t>
            </a:r>
            <a:r>
              <a:rPr lang="hu-HU" sz="2400" dirty="0"/>
              <a:t> változókat használva közel 80-szoros gyorsítást eredményez</a:t>
            </a: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38F5379B-7CDB-B28C-BC7F-386C6FCF8D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611" y="1687836"/>
            <a:ext cx="3810532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42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1. egyéni séma">
      <a:dk1>
        <a:sysClr val="windowText" lastClr="000000"/>
      </a:dk1>
      <a:lt1>
        <a:sysClr val="window" lastClr="FFFFFF"/>
      </a:lt1>
      <a:dk2>
        <a:srgbClr val="7030A0"/>
      </a:dk2>
      <a:lt2>
        <a:srgbClr val="E8E8E8"/>
      </a:lt2>
      <a:accent1>
        <a:srgbClr val="7030A0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81</TotalTime>
  <Words>218</Words>
  <Application>Microsoft Office PowerPoint</Application>
  <PresentationFormat>Szélesvásznú</PresentationFormat>
  <Paragraphs>41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Aptos Narrow</vt:lpstr>
      <vt:lpstr>Arial</vt:lpstr>
      <vt:lpstr>Cambria Math</vt:lpstr>
      <vt:lpstr>Office-téma</vt:lpstr>
      <vt:lpstr>Fraktálok vizualizálása párhuzamosítással</vt:lpstr>
      <vt:lpstr>4 féle fraktál közül lehet választani</vt:lpstr>
      <vt:lpstr>Julia-halmazok közül néhány példa</vt:lpstr>
      <vt:lpstr>Kernel működése</vt:lpstr>
      <vt:lpstr>CPU-hoz képest mért gyorsítás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Lakics Péter</dc:creator>
  <cp:lastModifiedBy>Lakics Péter</cp:lastModifiedBy>
  <cp:revision>1</cp:revision>
  <dcterms:created xsi:type="dcterms:W3CDTF">2026-05-10T10:35:05Z</dcterms:created>
  <dcterms:modified xsi:type="dcterms:W3CDTF">2026-05-10T11:56:33Z</dcterms:modified>
</cp:coreProperties>
</file>